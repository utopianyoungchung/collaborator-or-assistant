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945600" cy="32918400"/>
  <p:notesSz cx="32918400" cy="21945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aise_ba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21945600" cy="3200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200400"/>
            <a:ext cx="21945600" cy="128016"/>
          </a:xfrm>
          <a:prstGeom prst="rect">
            <a:avLst/>
          </a:prstGeom>
          <a:solidFill>
            <a:srgbClr val="DD8047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256032"/>
            <a:ext cx="20116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Collaborator or Assistant?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841248" y="1481328"/>
            <a:ext cx="17190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AI Coding Agents Partition Work Across Pull Request Lifecycles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41248" y="2157984"/>
            <a:ext cx="20299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000" i="1" dirty="0">
                <a:solidFill>
                  <a:srgbClr val="F2E4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agent's work can surface under a human identity; the trace measures visibility, not authorship.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41248" y="2688336"/>
            <a:ext cx="1371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dirty="0">
                <a:solidFill>
                  <a:srgbClr val="F2E4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Young Jo Chung · Safwat Hassan · University of Toronto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2344400" y="2715768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F2E4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AIware 2026 · Montreal · 6–7 July</a:t>
            </a:r>
            <a:endParaRPr lang="en-US" sz="1800" dirty="0"/>
          </a:p>
        </p:txBody>
      </p:sp>
      <p:pic>
        <p:nvPicPr>
          <p:cNvPr id="9" name="Image 1" descr="assets/caise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0" y="310896"/>
            <a:ext cx="2377440" cy="8686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22960" y="3611880"/>
            <a:ext cx="1051560" cy="1051560"/>
          </a:xfrm>
          <a:prstGeom prst="ellipse">
            <a:avLst/>
          </a:prstGeom>
          <a:solidFill>
            <a:srgbClr val="DD8047"/>
          </a:solidFill>
          <a:ln/>
        </p:spPr>
      </p:sp>
      <p:sp>
        <p:nvSpPr>
          <p:cNvPr id="11" name="Text 7"/>
          <p:cNvSpPr/>
          <p:nvPr/>
        </p:nvSpPr>
        <p:spPr>
          <a:xfrm>
            <a:off x="822960" y="366674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22960" y="3922776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2148840" y="3593592"/>
            <a:ext cx="19202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3500" b="1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instrument: PRs as traces</a:t>
            </a:r>
            <a:endParaRPr lang="en-US" sz="3500" dirty="0"/>
          </a:p>
        </p:txBody>
      </p:sp>
      <p:sp>
        <p:nvSpPr>
          <p:cNvPr id="14" name="Text 10"/>
          <p:cNvSpPr/>
          <p:nvPr/>
        </p:nvSpPr>
        <p:spPr>
          <a:xfrm>
            <a:off x="2148840" y="4325112"/>
            <a:ext cx="1947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00" i="1" dirty="0">
                <a:solidFill>
                  <a:srgbClr val="707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talk gave the map; the poster uses it to read visibility and review.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822960" y="5074920"/>
            <a:ext cx="777240" cy="777240"/>
          </a:xfrm>
          <a:prstGeom prst="ellipse">
            <a:avLst/>
          </a:prstGeom>
          <a:solidFill>
            <a:srgbClr val="DD8047"/>
          </a:solidFill>
          <a:ln/>
        </p:spPr>
      </p:sp>
      <p:sp>
        <p:nvSpPr>
          <p:cNvPr id="16" name="Text 12"/>
          <p:cNvSpPr/>
          <p:nvPr/>
        </p:nvSpPr>
        <p:spPr>
          <a:xfrm>
            <a:off x="822960" y="50749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200" dirty="0"/>
          </a:p>
        </p:txBody>
      </p:sp>
      <p:sp>
        <p:nvSpPr>
          <p:cNvPr id="17" name="Text 13"/>
          <p:cNvSpPr/>
          <p:nvPr/>
        </p:nvSpPr>
        <p:spPr>
          <a:xfrm>
            <a:off x="1783080" y="5020056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Each PR is a lifecycle</a:t>
            </a:r>
            <a:endParaRPr lang="en-US" sz="2500" dirty="0"/>
          </a:p>
        </p:txBody>
      </p:sp>
      <p:sp>
        <p:nvSpPr>
          <p:cNvPr id="18" name="Text 14"/>
          <p:cNvSpPr/>
          <p:nvPr/>
        </p:nvSpPr>
        <p:spPr>
          <a:xfrm>
            <a:off x="1783080" y="56235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sequence of events, not just a row in a table.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822960" y="6812280"/>
            <a:ext cx="777240" cy="777240"/>
          </a:xfrm>
          <a:prstGeom prst="ellipse">
            <a:avLst/>
          </a:prstGeom>
          <a:solidFill>
            <a:srgbClr val="DD8047"/>
          </a:solidFill>
          <a:ln/>
        </p:spPr>
      </p:sp>
      <p:sp>
        <p:nvSpPr>
          <p:cNvPr id="20" name="Text 16"/>
          <p:cNvSpPr/>
          <p:nvPr/>
        </p:nvSpPr>
        <p:spPr>
          <a:xfrm>
            <a:off x="822960" y="6812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200" dirty="0"/>
          </a:p>
        </p:txBody>
      </p:sp>
      <p:sp>
        <p:nvSpPr>
          <p:cNvPr id="21" name="Text 17"/>
          <p:cNvSpPr/>
          <p:nvPr/>
        </p:nvSpPr>
        <p:spPr>
          <a:xfrm>
            <a:off x="1783080" y="6757416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map separates roles</a:t>
            </a:r>
            <a:endParaRPr lang="en-US" sz="2500" dirty="0"/>
          </a:p>
        </p:txBody>
      </p:sp>
      <p:sp>
        <p:nvSpPr>
          <p:cNvPr id="22" name="Text 18"/>
          <p:cNvSpPr/>
          <p:nvPr/>
        </p:nvSpPr>
        <p:spPr>
          <a:xfrm>
            <a:off x="1783080" y="736092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commit, review, and merge are distinct trace surfaces.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822960" y="8549640"/>
            <a:ext cx="777240" cy="777240"/>
          </a:xfrm>
          <a:prstGeom prst="ellipse">
            <a:avLst/>
          </a:prstGeom>
          <a:solidFill>
            <a:srgbClr val="DD8047"/>
          </a:solidFill>
          <a:ln/>
        </p:spPr>
      </p:sp>
      <p:sp>
        <p:nvSpPr>
          <p:cNvPr id="24" name="Text 20"/>
          <p:cNvSpPr/>
          <p:nvPr/>
        </p:nvSpPr>
        <p:spPr>
          <a:xfrm>
            <a:off x="822960" y="85496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200" dirty="0"/>
          </a:p>
        </p:txBody>
      </p:sp>
      <p:sp>
        <p:nvSpPr>
          <p:cNvPr id="25" name="Text 21"/>
          <p:cNvSpPr/>
          <p:nvPr/>
        </p:nvSpPr>
        <p:spPr>
          <a:xfrm>
            <a:off x="1783080" y="8494776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Initiator = first committer</a:t>
            </a:r>
            <a:endParaRPr lang="en-US" sz="2500" dirty="0"/>
          </a:p>
        </p:txBody>
      </p:sp>
      <p:sp>
        <p:nvSpPr>
          <p:cNvPr id="26" name="Text 22"/>
          <p:cNvSpPr/>
          <p:nvPr/>
        </p:nvSpPr>
        <p:spPr>
          <a:xfrm>
            <a:off x="1783080" y="9098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records who the commit is logged under — an attribution surface.</a:t>
            </a:r>
            <a:endParaRPr lang="en-US" sz="2100" dirty="0"/>
          </a:p>
        </p:txBody>
      </p:sp>
      <p:sp>
        <p:nvSpPr>
          <p:cNvPr id="27" name="Text 23"/>
          <p:cNvSpPr/>
          <p:nvPr/>
        </p:nvSpPr>
        <p:spPr>
          <a:xfrm>
            <a:off x="822960" y="1028700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rgbClr val="707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That surface is visible identity, not verified authorship. This is the gap the poster follows.</a:t>
            </a:r>
            <a:endParaRPr lang="en-US" sz="2100" dirty="0"/>
          </a:p>
        </p:txBody>
      </p:sp>
      <p:pic>
        <p:nvPicPr>
          <p:cNvPr id="28" name="Image 2" descr="assets/paper_pr_workf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937760"/>
            <a:ext cx="7315200" cy="62087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16002000" y="5074920"/>
            <a:ext cx="5166360" cy="5897880"/>
          </a:xfrm>
          <a:prstGeom prst="roundRect">
            <a:avLst>
              <a:gd name="adj" fmla="val 2124"/>
            </a:avLst>
          </a:prstGeom>
          <a:solidFill>
            <a:srgbClr val="F6EEE6"/>
          </a:solidFill>
          <a:ln/>
        </p:spPr>
      </p:sp>
      <p:sp>
        <p:nvSpPr>
          <p:cNvPr id="30" name="Shape 25"/>
          <p:cNvSpPr/>
          <p:nvPr/>
        </p:nvSpPr>
        <p:spPr>
          <a:xfrm>
            <a:off x="16002000" y="5074920"/>
            <a:ext cx="146304" cy="5897880"/>
          </a:xfrm>
          <a:prstGeom prst="rect">
            <a:avLst/>
          </a:prstGeom>
          <a:solidFill>
            <a:srgbClr val="DD8047"/>
          </a:solidFill>
          <a:ln/>
        </p:spPr>
      </p:sp>
      <p:sp>
        <p:nvSpPr>
          <p:cNvPr id="31" name="Text 26"/>
          <p:cNvSpPr/>
          <p:nvPr/>
        </p:nvSpPr>
        <p:spPr>
          <a:xfrm>
            <a:off x="16322040" y="53035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 state machine?</a:t>
            </a:r>
            <a:endParaRPr lang="en-US" sz="2200" dirty="0"/>
          </a:p>
        </p:txBody>
      </p:sp>
      <p:sp>
        <p:nvSpPr>
          <p:cNvPr id="32" name="Text 27"/>
          <p:cNvSpPr/>
          <p:nvPr/>
        </p:nvSpPr>
        <p:spPr>
          <a:xfrm>
            <a:off x="16322040" y="5943600"/>
            <a:ext cx="47091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Because the question is not only whether a PR merged. It is what path it took: who appears first, whether review appears, and who executes the merge.</a:t>
            </a:r>
            <a:endParaRPr lang="en-US" sz="2000" dirty="0"/>
          </a:p>
        </p:txBody>
      </p:sp>
      <p:sp>
        <p:nvSpPr>
          <p:cNvPr id="33" name="Shape 28"/>
          <p:cNvSpPr/>
          <p:nvPr/>
        </p:nvSpPr>
        <p:spPr>
          <a:xfrm>
            <a:off x="822960" y="11841480"/>
            <a:ext cx="1051560" cy="1051560"/>
          </a:xfrm>
          <a:prstGeom prst="ellipse">
            <a:avLst/>
          </a:prstGeom>
          <a:solidFill>
            <a:srgbClr val="DD8047"/>
          </a:solidFill>
          <a:ln/>
        </p:spPr>
      </p:sp>
      <p:sp>
        <p:nvSpPr>
          <p:cNvPr id="34" name="Text 29"/>
          <p:cNvSpPr/>
          <p:nvPr/>
        </p:nvSpPr>
        <p:spPr>
          <a:xfrm>
            <a:off x="822960" y="1189634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822960" y="12152376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4000" dirty="0"/>
          </a:p>
        </p:txBody>
      </p:sp>
      <p:sp>
        <p:nvSpPr>
          <p:cNvPr id="36" name="Text 31"/>
          <p:cNvSpPr/>
          <p:nvPr/>
        </p:nvSpPr>
        <p:spPr>
          <a:xfrm>
            <a:off x="2148840" y="11823192"/>
            <a:ext cx="19202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3500" b="1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Figure 3 changes meaning: visibility, not workforce</a:t>
            </a:r>
            <a:endParaRPr lang="en-US" sz="3500" dirty="0"/>
          </a:p>
        </p:txBody>
      </p:sp>
      <p:sp>
        <p:nvSpPr>
          <p:cNvPr id="37" name="Text 32"/>
          <p:cNvSpPr/>
          <p:nvPr/>
        </p:nvSpPr>
        <p:spPr>
          <a:xfrm>
            <a:off x="2148840" y="12554712"/>
            <a:ext cx="1947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00" i="1" dirty="0">
                <a:solidFill>
                  <a:srgbClr val="707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six scenarios, corrected lens: the bars show how agentic work surfaces in the trace.</a:t>
            </a:r>
            <a:endParaRPr lang="en-US" sz="2100" dirty="0"/>
          </a:p>
        </p:txBody>
      </p:sp>
      <p:pic>
        <p:nvPicPr>
          <p:cNvPr id="38" name="Image 3" descr="assets/fig3_attribution_relab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3167360"/>
            <a:ext cx="13898880" cy="5696712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15133320" y="13167360"/>
            <a:ext cx="5989320" cy="5696712"/>
          </a:xfrm>
          <a:prstGeom prst="roundRect">
            <a:avLst>
              <a:gd name="adj" fmla="val 1926"/>
            </a:avLst>
          </a:prstGeom>
          <a:solidFill>
            <a:srgbClr val="F6EEE6"/>
          </a:solidFill>
          <a:ln/>
        </p:spPr>
      </p:sp>
      <p:sp>
        <p:nvSpPr>
          <p:cNvPr id="40" name="Shape 34"/>
          <p:cNvSpPr/>
          <p:nvPr/>
        </p:nvSpPr>
        <p:spPr>
          <a:xfrm>
            <a:off x="15133320" y="13167360"/>
            <a:ext cx="146304" cy="5696712"/>
          </a:xfrm>
          <a:prstGeom prst="rect">
            <a:avLst/>
          </a:prstGeom>
          <a:solidFill>
            <a:srgbClr val="DD8047"/>
          </a:solidFill>
          <a:ln/>
        </p:spPr>
      </p:sp>
      <p:sp>
        <p:nvSpPr>
          <p:cNvPr id="41" name="Text 35"/>
          <p:cNvSpPr/>
          <p:nvPr/>
        </p:nvSpPr>
        <p:spPr>
          <a:xfrm>
            <a:off x="15453360" y="13368528"/>
            <a:ext cx="5532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read it</a:t>
            </a:r>
            <a:endParaRPr lang="en-US" sz="2200" dirty="0"/>
          </a:p>
        </p:txBody>
      </p:sp>
      <p:sp>
        <p:nvSpPr>
          <p:cNvPr id="42" name="Text 36"/>
          <p:cNvSpPr/>
          <p:nvPr/>
        </p:nvSpPr>
        <p:spPr>
          <a:xfrm>
            <a:off x="15453360" y="14008608"/>
            <a:ext cx="55778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9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 bars: the agent/bot is visible at first commit. Green bars: the first commit surfaces under a human account. In this agentic corpus, green does not mean human-authored; it means agent work is less visible.</a:t>
            </a:r>
            <a:endParaRPr lang="en-US" sz="1900" dirty="0"/>
          </a:p>
        </p:txBody>
      </p:sp>
      <p:sp>
        <p:nvSpPr>
          <p:cNvPr id="43" name="Text 37"/>
          <p:cNvSpPr/>
          <p:nvPr/>
        </p:nvSpPr>
        <p:spPr>
          <a:xfrm>
            <a:off x="822960" y="19001232"/>
            <a:ext cx="13898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i="1" dirty="0">
                <a:solidFill>
                  <a:srgbClr val="707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Codex carries the pattern (n=20,857, ~99.9% human-signed); Claude is consistent but fragile — n=338 and 57% of its labels flip under attribution-aware re-detection.</a:t>
            </a:r>
            <a:endParaRPr lang="en-US" sz="1700" dirty="0"/>
          </a:p>
        </p:txBody>
      </p:sp>
      <p:sp>
        <p:nvSpPr>
          <p:cNvPr id="44" name="Shape 38"/>
          <p:cNvSpPr/>
          <p:nvPr/>
        </p:nvSpPr>
        <p:spPr>
          <a:xfrm>
            <a:off x="822960" y="19659600"/>
            <a:ext cx="1051560" cy="1051560"/>
          </a:xfrm>
          <a:prstGeom prst="ellipse">
            <a:avLst/>
          </a:prstGeom>
          <a:solidFill>
            <a:srgbClr val="DD8047"/>
          </a:solidFill>
          <a:ln/>
        </p:spPr>
      </p:sp>
      <p:sp>
        <p:nvSpPr>
          <p:cNvPr id="45" name="Text 39"/>
          <p:cNvSpPr/>
          <p:nvPr/>
        </p:nvSpPr>
        <p:spPr>
          <a:xfrm>
            <a:off x="822960" y="1971446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</a:t>
            </a:r>
            <a:endParaRPr lang="en-US" sz="1300" dirty="0"/>
          </a:p>
        </p:txBody>
      </p:sp>
      <p:sp>
        <p:nvSpPr>
          <p:cNvPr id="46" name="Text 40"/>
          <p:cNvSpPr/>
          <p:nvPr/>
        </p:nvSpPr>
        <p:spPr>
          <a:xfrm>
            <a:off x="822960" y="19970496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000" dirty="0"/>
          </a:p>
        </p:txBody>
      </p:sp>
      <p:sp>
        <p:nvSpPr>
          <p:cNvPr id="47" name="Text 41"/>
          <p:cNvSpPr/>
          <p:nvPr/>
        </p:nvSpPr>
        <p:spPr>
          <a:xfrm>
            <a:off x="2148840" y="19641312"/>
            <a:ext cx="19202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3500" b="1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Visibility meets review</a:t>
            </a:r>
            <a:endParaRPr lang="en-US" sz="3500" dirty="0"/>
          </a:p>
        </p:txBody>
      </p:sp>
      <p:sp>
        <p:nvSpPr>
          <p:cNvPr id="48" name="Text 42"/>
          <p:cNvSpPr/>
          <p:nvPr/>
        </p:nvSpPr>
        <p:spPr>
          <a:xfrm>
            <a:off x="2148840" y="20372832"/>
            <a:ext cx="1947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00" i="1" dirty="0">
                <a:solidFill>
                  <a:srgbClr val="707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association to remember: the least visible agentic work has the least recorded human-approved review.</a:t>
            </a:r>
            <a:endParaRPr lang="en-US" sz="2100" dirty="0"/>
          </a:p>
        </p:txBody>
      </p:sp>
      <p:sp>
        <p:nvSpPr>
          <p:cNvPr id="49" name="Text 43"/>
          <p:cNvSpPr/>
          <p:nvPr/>
        </p:nvSpPr>
        <p:spPr>
          <a:xfrm>
            <a:off x="822960" y="212140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89.6%</a:t>
            </a:r>
            <a:endParaRPr lang="en-US" sz="9200" dirty="0"/>
          </a:p>
        </p:txBody>
      </p:sp>
      <p:sp>
        <p:nvSpPr>
          <p:cNvPr id="50" name="Text 44"/>
          <p:cNvSpPr/>
          <p:nvPr/>
        </p:nvSpPr>
        <p:spPr>
          <a:xfrm>
            <a:off x="822960" y="22905720"/>
            <a:ext cx="7040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 29,585 terminal PRs have no recorded human-approved review. Among merged PRs, only 12.8% show one.</a:t>
            </a:r>
            <a:endParaRPr lang="en-US" sz="2000" dirty="0"/>
          </a:p>
        </p:txBody>
      </p:sp>
      <p:sp>
        <p:nvSpPr>
          <p:cNvPr id="51" name="Text 45"/>
          <p:cNvSpPr/>
          <p:nvPr/>
        </p:nvSpPr>
        <p:spPr>
          <a:xfrm>
            <a:off x="822960" y="24231600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600" b="1" dirty="0">
                <a:solidFill>
                  <a:srgbClr val="DD80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17×</a:t>
            </a:r>
            <a:endParaRPr lang="en-US" sz="7600" dirty="0"/>
          </a:p>
        </p:txBody>
      </p:sp>
      <p:sp>
        <p:nvSpPr>
          <p:cNvPr id="52" name="Text 46"/>
          <p:cNvSpPr/>
          <p:nvPr/>
        </p:nvSpPr>
        <p:spPr>
          <a:xfrm>
            <a:off x="822960" y="25557480"/>
            <a:ext cx="7040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spread in human-approved review: Copilot 66.4% to OpenAI Codex 3.9%.</a:t>
            </a:r>
            <a:endParaRPr lang="en-US" sz="2000" dirty="0"/>
          </a:p>
        </p:txBody>
      </p:sp>
      <p:pic>
        <p:nvPicPr>
          <p:cNvPr id="53" name="Image 4" descr="assets/caise_v1_w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21122640"/>
            <a:ext cx="12984480" cy="4242816"/>
          </a:xfrm>
          <a:prstGeom prst="rect">
            <a:avLst/>
          </a:prstGeom>
        </p:spPr>
      </p:pic>
      <p:sp>
        <p:nvSpPr>
          <p:cNvPr id="54" name="Text 47"/>
          <p:cNvSpPr/>
          <p:nvPr/>
        </p:nvSpPr>
        <p:spPr>
          <a:xfrm>
            <a:off x="822960" y="26471880"/>
            <a:ext cx="20391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poster's claim:  </a:t>
            </a:r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lifecycle map still works, but Figure 3 should be read as attribution visibility. Once read that way, the same traces expose a governance gap: human review is sparse overall and lowest where agentic work is least visible as agentic. Association, not cause.</a:t>
            </a:r>
            <a:endParaRPr lang="en-US" sz="2000" dirty="0"/>
          </a:p>
        </p:txBody>
      </p:sp>
      <p:sp>
        <p:nvSpPr>
          <p:cNvPr id="55" name="Shape 48"/>
          <p:cNvSpPr/>
          <p:nvPr/>
        </p:nvSpPr>
        <p:spPr>
          <a:xfrm>
            <a:off x="457200" y="27752040"/>
            <a:ext cx="21031200" cy="4160520"/>
          </a:xfrm>
          <a:prstGeom prst="roundRect">
            <a:avLst>
              <a:gd name="adj" fmla="val 3516"/>
            </a:avLst>
          </a:prstGeom>
          <a:solidFill>
            <a:srgbClr val="FBF3EC"/>
          </a:solidFill>
          <a:ln w="25400">
            <a:solidFill>
              <a:srgbClr val="DD8047"/>
            </a:solidFill>
            <a:prstDash val="solid"/>
          </a:ln>
        </p:spPr>
      </p:sp>
      <p:sp>
        <p:nvSpPr>
          <p:cNvPr id="56" name="Shape 49"/>
          <p:cNvSpPr/>
          <p:nvPr/>
        </p:nvSpPr>
        <p:spPr>
          <a:xfrm>
            <a:off x="457200" y="27752040"/>
            <a:ext cx="164592" cy="416052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7" name="Text 50"/>
          <p:cNvSpPr/>
          <p:nvPr/>
        </p:nvSpPr>
        <p:spPr>
          <a:xfrm>
            <a:off x="822960" y="27998928"/>
            <a:ext cx="20391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Collaborator or Assistant? A junior teammate — often under your name.</a:t>
            </a:r>
            <a:endParaRPr lang="en-US" sz="3100" dirty="0"/>
          </a:p>
        </p:txBody>
      </p:sp>
      <p:sp>
        <p:nvSpPr>
          <p:cNvPr id="58" name="Text 51"/>
          <p:cNvSpPr/>
          <p:nvPr/>
        </p:nvSpPr>
        <p:spPr>
          <a:xfrm>
            <a:off x="822960" y="28849320"/>
            <a:ext cx="203911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puzzle:  </a:t>
            </a:r>
            <a:pPr algn="l" indent="0" marL="0">
              <a:lnSpc>
                <a:spcPct val="108000"/>
              </a:lnSpc>
              <a:buNone/>
            </a:pPr>
            <a:r>
              <a:rPr lang="en-US" sz="21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work can enter a repository under a human name.    </a:t>
            </a:r>
            <a:pPr algn="l"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trace:  </a:t>
            </a:r>
            <a:pPr algn="l" indent="0" marL="0">
              <a:lnSpc>
                <a:spcPct val="108000"/>
              </a:lnSpc>
              <a:buNone/>
            </a:pPr>
            <a:r>
              <a:rPr lang="en-US" sz="21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 merges still look human-governed.    </a:t>
            </a:r>
            <a:pPr algn="l"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gap:  </a:t>
            </a:r>
            <a:pPr algn="l" indent="0" marL="0">
              <a:lnSpc>
                <a:spcPct val="108000"/>
              </a:lnSpc>
              <a:buNone/>
            </a:pPr>
            <a:r>
              <a:rPr lang="en-US" sz="21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recorded human-approved review is often absent.    </a:t>
            </a:r>
            <a:pPr algn="l"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question:  </a:t>
            </a:r>
            <a:pPr algn="l" indent="0" marL="0">
              <a:lnSpc>
                <a:spcPct val="108000"/>
              </a:lnSpc>
              <a:buNone/>
            </a:pPr>
            <a:r>
              <a:rPr lang="en-US" sz="2100" dirty="0">
                <a:solidFill>
                  <a:srgbClr val="3A2E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should repositories log if they want to govern agent-generated change?</a:t>
            </a:r>
            <a:endParaRPr lang="en-US" sz="2100" dirty="0"/>
          </a:p>
        </p:txBody>
      </p:sp>
      <p:sp>
        <p:nvSpPr>
          <p:cNvPr id="59" name="Shape 52"/>
          <p:cNvSpPr/>
          <p:nvPr/>
        </p:nvSpPr>
        <p:spPr>
          <a:xfrm>
            <a:off x="0" y="32324040"/>
            <a:ext cx="21945600" cy="594360"/>
          </a:xfrm>
          <a:prstGeom prst="rect">
            <a:avLst/>
          </a:prstGeom>
          <a:solidFill>
            <a:srgbClr val="3A2E27"/>
          </a:solidFill>
          <a:ln/>
        </p:spPr>
      </p:sp>
      <p:sp>
        <p:nvSpPr>
          <p:cNvPr id="60" name="Text 53"/>
          <p:cNvSpPr/>
          <p:nvPr/>
        </p:nvSpPr>
        <p:spPr>
          <a:xfrm>
            <a:off x="822960" y="32388048"/>
            <a:ext cx="1627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E7D9C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Data: AIDev (Li, Zhang &amp; A. E. Hassan, 2025), hao-li/AIDev on Hugging Face, CC-BY-4.0.   Repro: governance_stats.json (n=29,585; merged n=22,672).</a:t>
            </a:r>
            <a:endParaRPr lang="en-US" sz="1500" dirty="0"/>
          </a:p>
        </p:txBody>
      </p:sp>
      <p:sp>
        <p:nvSpPr>
          <p:cNvPr id="61" name="Text 54"/>
          <p:cNvSpPr/>
          <p:nvPr/>
        </p:nvSpPr>
        <p:spPr>
          <a:xfrm>
            <a:off x="822960" y="32644080"/>
            <a:ext cx="1627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E7D9C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Method: lifecycle state-machine taxonomy over PR timelines + AIDev review metadata.   Corroboration: Li et al. 2025; Agarwal et al. 2026; Haider &amp; Zimmermann 2026; Rahman &amp; Shihab 2026.   Supported by NSERC RGPIN-2021-03969.</a:t>
            </a:r>
            <a:endParaRPr lang="en-US" sz="1500" dirty="0"/>
          </a:p>
        </p:txBody>
      </p:sp>
      <p:sp>
        <p:nvSpPr>
          <p:cNvPr id="62" name="Text 55"/>
          <p:cNvSpPr/>
          <p:nvPr/>
        </p:nvSpPr>
        <p:spPr>
          <a:xfrm>
            <a:off x="17556480" y="325069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E7D9C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AIware 2026 · Montreal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2026-06-22T20:29:10Z</dcterms:created>
  <dcterms:modified xsi:type="dcterms:W3CDTF">2026-06-22T20:29:10Z</dcterms:modified>
</cp:coreProperties>
</file>