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60" r:id="rId2"/>
  </p:sldIdLst>
  <p:sldSz cx="21945600" cy="32918400"/>
  <p:notesSz cx="32918400" cy="219456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75" d="100"/>
          <a:sy n="75" d="100"/>
        </p:scale>
        <p:origin x="384" y="-16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337163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Banner BG"/>
          <p:cNvSpPr/>
          <p:nvPr/>
        </p:nvSpPr>
        <p:spPr>
          <a:xfrm>
            <a:off x="0" y="0"/>
            <a:ext cx="21945600" cy="3200400"/>
          </a:xfrm>
          <a:prstGeom prst="rect">
            <a:avLst/>
          </a:prstGeom>
          <a:gradFill>
            <a:gsLst>
              <a:gs pos="0">
                <a:srgbClr val="0B2545"/>
              </a:gs>
              <a:gs pos="55000">
                <a:srgbClr val="1F4366"/>
              </a:gs>
              <a:gs pos="100000">
                <a:srgbClr val="3A6B96"/>
              </a:gs>
            </a:gsLst>
            <a:lin ang="2700000" scaled="1"/>
          </a:gra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Shape 0"/>
          <p:cNvSpPr/>
          <p:nvPr/>
        </p:nvSpPr>
        <p:spPr>
          <a:xfrm>
            <a:off x="0" y="3200400"/>
            <a:ext cx="21945600" cy="128016"/>
          </a:xfrm>
          <a:prstGeom prst="rect">
            <a:avLst/>
          </a:prstGeom>
          <a:solidFill>
            <a:srgbClr val="C810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822960" y="256032"/>
            <a:ext cx="201168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Collaborator or Assistant?</a:t>
            </a:r>
            <a:endParaRPr lang="en-US" sz="6400" dirty="0"/>
          </a:p>
        </p:txBody>
      </p:sp>
      <p:sp>
        <p:nvSpPr>
          <p:cNvPr id="5" name="Text 2"/>
          <p:cNvSpPr/>
          <p:nvPr/>
        </p:nvSpPr>
        <p:spPr>
          <a:xfrm>
            <a:off x="841248" y="1481328"/>
            <a:ext cx="171907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AI Coding Agents Partition Work Across Pull Request Lifecycles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841248" y="2157984"/>
            <a:ext cx="202996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i="1" dirty="0">
                <a:solidFill>
                  <a:srgbClr val="F2E4D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 agent's work can surface under a human identity; the trace measures visibility, not authorship.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841248" y="2688336"/>
            <a:ext cx="137160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dirty="0">
                <a:solidFill>
                  <a:srgbClr val="F2E4D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Young Jo Chung · Safwat Hassan · University of Toronto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12344400" y="2715768"/>
            <a:ext cx="87782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1800" dirty="0">
                <a:solidFill>
                  <a:srgbClr val="F2E4D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AIware 2026 · Montreal · 6–7 July</a:t>
            </a:r>
            <a:endParaRPr lang="en-US" sz="1800" dirty="0"/>
          </a:p>
        </p:txBody>
      </p:sp>
      <p:sp>
        <p:nvSpPr>
          <p:cNvPr id="10" name="Shape 6"/>
          <p:cNvSpPr/>
          <p:nvPr/>
        </p:nvSpPr>
        <p:spPr>
          <a:xfrm>
            <a:off x="822960" y="3611880"/>
            <a:ext cx="1051560" cy="1051560"/>
          </a:xfrm>
          <a:prstGeom prst="ellipse">
            <a:avLst/>
          </a:prstGeom>
          <a:solidFill>
            <a:srgbClr val="C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7"/>
          <p:cNvSpPr/>
          <p:nvPr/>
        </p:nvSpPr>
        <p:spPr>
          <a:xfrm>
            <a:off x="822960" y="3666744"/>
            <a:ext cx="1051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STEP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822960" y="3922776"/>
            <a:ext cx="1051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2148840" y="3593592"/>
            <a:ext cx="192024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97000"/>
              </a:lnSpc>
              <a:buNone/>
            </a:pPr>
            <a:r>
              <a:rPr lang="en-US" sz="3500" b="1" dirty="0">
                <a:solidFill>
                  <a:srgbClr val="3A2E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instrument: PRs as traces</a:t>
            </a:r>
            <a:endParaRPr lang="en-US" sz="3500" dirty="0"/>
          </a:p>
        </p:txBody>
      </p:sp>
      <p:sp>
        <p:nvSpPr>
          <p:cNvPr id="14" name="Text 10"/>
          <p:cNvSpPr/>
          <p:nvPr/>
        </p:nvSpPr>
        <p:spPr>
          <a:xfrm>
            <a:off x="2148840" y="4325112"/>
            <a:ext cx="194767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100" i="1" dirty="0">
                <a:solidFill>
                  <a:srgbClr val="70707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talk gave the map; the poster uses it to read visibility and review.</a:t>
            </a:r>
            <a:endParaRPr lang="en-US" sz="2100" dirty="0"/>
          </a:p>
        </p:txBody>
      </p:sp>
      <p:sp>
        <p:nvSpPr>
          <p:cNvPr id="16" name="Text 12"/>
          <p:cNvSpPr/>
          <p:nvPr/>
        </p:nvSpPr>
        <p:spPr>
          <a:xfrm>
            <a:off x="960120" y="5026152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4000" b="1" dirty="0">
                <a:solidFill>
                  <a:srgbClr val="C0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1.</a:t>
            </a:r>
            <a:endParaRPr lang="en-US" sz="4000" dirty="0">
              <a:solidFill>
                <a:srgbClr val="C00000"/>
              </a:solidFill>
            </a:endParaRPr>
          </a:p>
        </p:txBody>
      </p:sp>
      <p:sp>
        <p:nvSpPr>
          <p:cNvPr id="17" name="Text 13"/>
          <p:cNvSpPr/>
          <p:nvPr/>
        </p:nvSpPr>
        <p:spPr>
          <a:xfrm>
            <a:off x="1783080" y="5020056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00" b="1" dirty="0">
                <a:solidFill>
                  <a:srgbClr val="C0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Each PR is a lifecycle</a:t>
            </a:r>
            <a:endParaRPr lang="en-US" sz="2500" dirty="0"/>
          </a:p>
        </p:txBody>
      </p:sp>
      <p:sp>
        <p:nvSpPr>
          <p:cNvPr id="18" name="Text 14"/>
          <p:cNvSpPr/>
          <p:nvPr/>
        </p:nvSpPr>
        <p:spPr>
          <a:xfrm>
            <a:off x="1783080" y="5623560"/>
            <a:ext cx="64008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100" dirty="0">
                <a:solidFill>
                  <a:srgbClr val="3A2E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sequence of events, not just a row in a table.</a:t>
            </a:r>
            <a:endParaRPr lang="en-US" sz="2100" dirty="0"/>
          </a:p>
        </p:txBody>
      </p:sp>
      <p:sp>
        <p:nvSpPr>
          <p:cNvPr id="21" name="Text 17"/>
          <p:cNvSpPr/>
          <p:nvPr/>
        </p:nvSpPr>
        <p:spPr>
          <a:xfrm>
            <a:off x="1783080" y="6757416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00" b="1" dirty="0">
                <a:solidFill>
                  <a:srgbClr val="C0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map separates roles</a:t>
            </a:r>
            <a:endParaRPr lang="en-US" sz="2500" dirty="0"/>
          </a:p>
        </p:txBody>
      </p:sp>
      <p:sp>
        <p:nvSpPr>
          <p:cNvPr id="22" name="Text 18"/>
          <p:cNvSpPr/>
          <p:nvPr/>
        </p:nvSpPr>
        <p:spPr>
          <a:xfrm>
            <a:off x="1783080" y="7360920"/>
            <a:ext cx="64008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100" dirty="0">
                <a:solidFill>
                  <a:srgbClr val="3A2E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First commit, review, and merge are distinct trace surfaces.</a:t>
            </a:r>
            <a:endParaRPr lang="en-US" sz="2100" dirty="0"/>
          </a:p>
        </p:txBody>
      </p:sp>
      <p:sp>
        <p:nvSpPr>
          <p:cNvPr id="24" name="Text 20"/>
          <p:cNvSpPr/>
          <p:nvPr/>
        </p:nvSpPr>
        <p:spPr>
          <a:xfrm>
            <a:off x="822960" y="854964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3200" dirty="0"/>
          </a:p>
        </p:txBody>
      </p:sp>
      <p:sp>
        <p:nvSpPr>
          <p:cNvPr id="25" name="Text 21"/>
          <p:cNvSpPr/>
          <p:nvPr/>
        </p:nvSpPr>
        <p:spPr>
          <a:xfrm>
            <a:off x="1783080" y="8494776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00" b="1" dirty="0">
                <a:solidFill>
                  <a:srgbClr val="C0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Initiator = first committer</a:t>
            </a:r>
            <a:endParaRPr lang="en-US" sz="2500" dirty="0"/>
          </a:p>
        </p:txBody>
      </p:sp>
      <p:sp>
        <p:nvSpPr>
          <p:cNvPr id="26" name="Text 22"/>
          <p:cNvSpPr/>
          <p:nvPr/>
        </p:nvSpPr>
        <p:spPr>
          <a:xfrm>
            <a:off x="1783080" y="9098280"/>
            <a:ext cx="64008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100" dirty="0">
                <a:solidFill>
                  <a:srgbClr val="3A2E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It records who the commit is logged under — an attribution surface.</a:t>
            </a:r>
            <a:endParaRPr lang="en-US" sz="2100" dirty="0"/>
          </a:p>
        </p:txBody>
      </p:sp>
      <p:sp>
        <p:nvSpPr>
          <p:cNvPr id="27" name="Text 23"/>
          <p:cNvSpPr/>
          <p:nvPr/>
        </p:nvSpPr>
        <p:spPr>
          <a:xfrm>
            <a:off x="822960" y="10287000"/>
            <a:ext cx="69494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100" i="1" dirty="0">
                <a:solidFill>
                  <a:srgbClr val="70707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That surface is visible identity, not verified authorship. This is the gap the poster follows.</a:t>
            </a:r>
            <a:endParaRPr lang="en-US" sz="2100" dirty="0"/>
          </a:p>
        </p:txBody>
      </p:sp>
      <p:sp>
        <p:nvSpPr>
          <p:cNvPr id="29" name="Shape 24"/>
          <p:cNvSpPr/>
          <p:nvPr/>
        </p:nvSpPr>
        <p:spPr>
          <a:xfrm>
            <a:off x="16002000" y="5074920"/>
            <a:ext cx="5166360" cy="5897880"/>
          </a:xfrm>
          <a:prstGeom prst="roundRect">
            <a:avLst>
              <a:gd name="adj" fmla="val 2124"/>
            </a:avLst>
          </a:prstGeom>
          <a:solidFill>
            <a:srgbClr val="F6EEE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5"/>
          <p:cNvSpPr/>
          <p:nvPr/>
        </p:nvSpPr>
        <p:spPr>
          <a:xfrm>
            <a:off x="16002000" y="5074920"/>
            <a:ext cx="146304" cy="5897880"/>
          </a:xfrm>
          <a:prstGeom prst="rect">
            <a:avLst/>
          </a:prstGeom>
          <a:solidFill>
            <a:srgbClr val="C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6"/>
          <p:cNvSpPr/>
          <p:nvPr/>
        </p:nvSpPr>
        <p:spPr>
          <a:xfrm>
            <a:off x="16322040" y="530352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00" b="1" dirty="0">
                <a:solidFill>
                  <a:srgbClr val="C0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a state machine?</a:t>
            </a:r>
            <a:endParaRPr lang="en-US" sz="3200" dirty="0"/>
          </a:p>
        </p:txBody>
      </p:sp>
      <p:sp>
        <p:nvSpPr>
          <p:cNvPr id="32" name="Text 27"/>
          <p:cNvSpPr/>
          <p:nvPr/>
        </p:nvSpPr>
        <p:spPr>
          <a:xfrm>
            <a:off x="16322040" y="5943600"/>
            <a:ext cx="4709160" cy="4846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3200" dirty="0">
                <a:solidFill>
                  <a:srgbClr val="3A2E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Because the question is not only whether a PR merged. It is what path it took: who appears first, whether review appears, and who executes the merge.</a:t>
            </a:r>
            <a:endParaRPr lang="en-US" sz="3200" dirty="0"/>
          </a:p>
        </p:txBody>
      </p:sp>
      <p:sp>
        <p:nvSpPr>
          <p:cNvPr id="33" name="Shape 28"/>
          <p:cNvSpPr/>
          <p:nvPr/>
        </p:nvSpPr>
        <p:spPr>
          <a:xfrm>
            <a:off x="822960" y="11841480"/>
            <a:ext cx="1051560" cy="1051560"/>
          </a:xfrm>
          <a:prstGeom prst="ellipse">
            <a:avLst/>
          </a:prstGeom>
          <a:solidFill>
            <a:srgbClr val="C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29"/>
          <p:cNvSpPr/>
          <p:nvPr/>
        </p:nvSpPr>
        <p:spPr>
          <a:xfrm>
            <a:off x="822960" y="11896344"/>
            <a:ext cx="1051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STEP</a:t>
            </a:r>
            <a:endParaRPr lang="en-US" sz="1300" dirty="0"/>
          </a:p>
        </p:txBody>
      </p:sp>
      <p:sp>
        <p:nvSpPr>
          <p:cNvPr id="35" name="Text 30"/>
          <p:cNvSpPr/>
          <p:nvPr/>
        </p:nvSpPr>
        <p:spPr>
          <a:xfrm>
            <a:off x="822960" y="12152376"/>
            <a:ext cx="1051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4000" dirty="0"/>
          </a:p>
        </p:txBody>
      </p:sp>
      <p:sp>
        <p:nvSpPr>
          <p:cNvPr id="36" name="Text 31"/>
          <p:cNvSpPr/>
          <p:nvPr/>
        </p:nvSpPr>
        <p:spPr>
          <a:xfrm>
            <a:off x="2194560" y="11823192"/>
            <a:ext cx="192024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97000"/>
              </a:lnSpc>
              <a:buNone/>
            </a:pPr>
            <a:r>
              <a:rPr lang="en-US" sz="3500" b="1" dirty="0">
                <a:solidFill>
                  <a:srgbClr val="3A2E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Figure 3 changes meaning: visibility, not workforce</a:t>
            </a:r>
            <a:endParaRPr lang="en-US" sz="3500" dirty="0"/>
          </a:p>
        </p:txBody>
      </p:sp>
      <p:sp>
        <p:nvSpPr>
          <p:cNvPr id="37" name="Text 32"/>
          <p:cNvSpPr/>
          <p:nvPr/>
        </p:nvSpPr>
        <p:spPr>
          <a:xfrm>
            <a:off x="2148840" y="12554712"/>
            <a:ext cx="194767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100" i="1" dirty="0">
                <a:solidFill>
                  <a:srgbClr val="70707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Same six scenarios, corrected lens: the bars show how agentic work surfaces in the trace.</a:t>
            </a:r>
            <a:endParaRPr lang="en-US" sz="2100" dirty="0"/>
          </a:p>
        </p:txBody>
      </p:sp>
      <p:pic>
        <p:nvPicPr>
          <p:cNvPr id="38" name="Image 3" descr="assets/fig3_attribution_relab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3167360"/>
            <a:ext cx="13898880" cy="5696712"/>
          </a:xfrm>
          <a:prstGeom prst="rect">
            <a:avLst/>
          </a:prstGeom>
        </p:spPr>
      </p:pic>
      <p:sp>
        <p:nvSpPr>
          <p:cNvPr id="39" name="Shape 33"/>
          <p:cNvSpPr/>
          <p:nvPr/>
        </p:nvSpPr>
        <p:spPr>
          <a:xfrm>
            <a:off x="15133320" y="13167360"/>
            <a:ext cx="5989320" cy="5696712"/>
          </a:xfrm>
          <a:prstGeom prst="roundRect">
            <a:avLst>
              <a:gd name="adj" fmla="val 1926"/>
            </a:avLst>
          </a:prstGeom>
          <a:solidFill>
            <a:srgbClr val="F6EEE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Shape 34"/>
          <p:cNvSpPr/>
          <p:nvPr/>
        </p:nvSpPr>
        <p:spPr>
          <a:xfrm>
            <a:off x="15133320" y="13167360"/>
            <a:ext cx="146304" cy="5696712"/>
          </a:xfrm>
          <a:prstGeom prst="rect">
            <a:avLst/>
          </a:prstGeom>
          <a:solidFill>
            <a:srgbClr val="C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5"/>
          <p:cNvSpPr/>
          <p:nvPr/>
        </p:nvSpPr>
        <p:spPr>
          <a:xfrm>
            <a:off x="15453360" y="13368528"/>
            <a:ext cx="55321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00" b="1" dirty="0">
                <a:solidFill>
                  <a:srgbClr val="C0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to read it</a:t>
            </a:r>
            <a:endParaRPr lang="en-US" sz="3600" dirty="0"/>
          </a:p>
        </p:txBody>
      </p:sp>
      <p:sp>
        <p:nvSpPr>
          <p:cNvPr id="42" name="Text 36"/>
          <p:cNvSpPr/>
          <p:nvPr/>
        </p:nvSpPr>
        <p:spPr>
          <a:xfrm>
            <a:off x="15453360" y="14008608"/>
            <a:ext cx="5577840" cy="47548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3200" dirty="0">
                <a:solidFill>
                  <a:srgbClr val="3A2E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Warm bars: the agent/bot is visible at first commit. Green bars: the first commit surfaces under a human account. In this agentic corpus, green does not mean human-authored; it means agent work is less visible.</a:t>
            </a:r>
            <a:endParaRPr lang="en-US" sz="3200" dirty="0"/>
          </a:p>
        </p:txBody>
      </p:sp>
      <p:sp>
        <p:nvSpPr>
          <p:cNvPr id="43" name="Text 37"/>
          <p:cNvSpPr/>
          <p:nvPr/>
        </p:nvSpPr>
        <p:spPr>
          <a:xfrm>
            <a:off x="822960" y="19001232"/>
            <a:ext cx="138988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i="1" dirty="0">
                <a:solidFill>
                  <a:srgbClr val="70707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Codex carries the pattern (n=20,857, ~99.9% human-signed); Claude is consistent but fragile — n=338 and 57% of its labels flip under attribution-aware re-detection.</a:t>
            </a:r>
            <a:endParaRPr lang="en-US" sz="1700" dirty="0"/>
          </a:p>
        </p:txBody>
      </p:sp>
      <p:sp>
        <p:nvSpPr>
          <p:cNvPr id="44" name="Shape 38"/>
          <p:cNvSpPr/>
          <p:nvPr/>
        </p:nvSpPr>
        <p:spPr>
          <a:xfrm>
            <a:off x="822960" y="19659600"/>
            <a:ext cx="1051560" cy="1051560"/>
          </a:xfrm>
          <a:prstGeom prst="ellipse">
            <a:avLst/>
          </a:prstGeom>
          <a:solidFill>
            <a:srgbClr val="C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Text 39"/>
          <p:cNvSpPr/>
          <p:nvPr/>
        </p:nvSpPr>
        <p:spPr>
          <a:xfrm>
            <a:off x="822960" y="19714464"/>
            <a:ext cx="1051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STEP</a:t>
            </a:r>
            <a:endParaRPr lang="en-US" sz="1300" dirty="0"/>
          </a:p>
        </p:txBody>
      </p:sp>
      <p:sp>
        <p:nvSpPr>
          <p:cNvPr id="46" name="Text 40"/>
          <p:cNvSpPr/>
          <p:nvPr/>
        </p:nvSpPr>
        <p:spPr>
          <a:xfrm>
            <a:off x="822960" y="19970496"/>
            <a:ext cx="1051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4000" dirty="0"/>
          </a:p>
        </p:txBody>
      </p:sp>
      <p:sp>
        <p:nvSpPr>
          <p:cNvPr id="47" name="Text 41"/>
          <p:cNvSpPr/>
          <p:nvPr/>
        </p:nvSpPr>
        <p:spPr>
          <a:xfrm>
            <a:off x="2148840" y="19641312"/>
            <a:ext cx="192024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97000"/>
              </a:lnSpc>
              <a:buNone/>
            </a:pPr>
            <a:r>
              <a:rPr lang="en-US" sz="3500" b="1" dirty="0">
                <a:solidFill>
                  <a:srgbClr val="3A2E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Visibility meets review</a:t>
            </a:r>
            <a:endParaRPr lang="en-US" sz="3500" dirty="0"/>
          </a:p>
        </p:txBody>
      </p:sp>
      <p:sp>
        <p:nvSpPr>
          <p:cNvPr id="48" name="Text 42"/>
          <p:cNvSpPr/>
          <p:nvPr/>
        </p:nvSpPr>
        <p:spPr>
          <a:xfrm>
            <a:off x="2148840" y="20372832"/>
            <a:ext cx="194767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100" i="1" dirty="0">
                <a:solidFill>
                  <a:srgbClr val="70707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One association to remember: the least visible agentic work has the least recorded human-approved review.</a:t>
            </a:r>
            <a:endParaRPr lang="en-US" sz="2100" dirty="0"/>
          </a:p>
        </p:txBody>
      </p:sp>
      <p:sp>
        <p:nvSpPr>
          <p:cNvPr id="49" name="Text 43"/>
          <p:cNvSpPr/>
          <p:nvPr/>
        </p:nvSpPr>
        <p:spPr>
          <a:xfrm>
            <a:off x="822960" y="21214080"/>
            <a:ext cx="69494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200" b="1" dirty="0">
                <a:solidFill>
                  <a:srgbClr val="C0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89.6%</a:t>
            </a:r>
            <a:endParaRPr lang="en-US" sz="9200" dirty="0"/>
          </a:p>
        </p:txBody>
      </p:sp>
      <p:sp>
        <p:nvSpPr>
          <p:cNvPr id="50" name="Text 44"/>
          <p:cNvSpPr/>
          <p:nvPr/>
        </p:nvSpPr>
        <p:spPr>
          <a:xfrm>
            <a:off x="822960" y="22905720"/>
            <a:ext cx="70408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000" dirty="0">
                <a:solidFill>
                  <a:srgbClr val="3A2E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of 29,585 terminal PRs have no recorded human-approved review. Among merged PRs, only 12.8% show one.</a:t>
            </a:r>
            <a:endParaRPr lang="en-US" sz="2000" dirty="0"/>
          </a:p>
        </p:txBody>
      </p:sp>
      <p:sp>
        <p:nvSpPr>
          <p:cNvPr id="51" name="Text 45"/>
          <p:cNvSpPr/>
          <p:nvPr/>
        </p:nvSpPr>
        <p:spPr>
          <a:xfrm>
            <a:off x="822960" y="24231600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7600" b="1" dirty="0">
                <a:solidFill>
                  <a:srgbClr val="C0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17×</a:t>
            </a:r>
            <a:endParaRPr lang="en-US" sz="7600" dirty="0"/>
          </a:p>
        </p:txBody>
      </p:sp>
      <p:sp>
        <p:nvSpPr>
          <p:cNvPr id="52" name="Text 46"/>
          <p:cNvSpPr/>
          <p:nvPr/>
        </p:nvSpPr>
        <p:spPr>
          <a:xfrm>
            <a:off x="822960" y="25557480"/>
            <a:ext cx="70408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000" dirty="0">
                <a:solidFill>
                  <a:srgbClr val="3A2E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spread in human-approved review: Copilot 66.4% to OpenAI Codex 3.9%.</a:t>
            </a:r>
            <a:endParaRPr lang="en-US" sz="2000" dirty="0"/>
          </a:p>
        </p:txBody>
      </p:sp>
      <p:pic>
        <p:nvPicPr>
          <p:cNvPr id="53" name="Image 4" descr="assets/caise_v1_wid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8160" y="21122640"/>
            <a:ext cx="12984480" cy="4242816"/>
          </a:xfrm>
          <a:prstGeom prst="rect">
            <a:avLst/>
          </a:prstGeom>
        </p:spPr>
      </p:pic>
      <p:sp>
        <p:nvSpPr>
          <p:cNvPr id="55" name="Shape 48"/>
          <p:cNvSpPr/>
          <p:nvPr/>
        </p:nvSpPr>
        <p:spPr>
          <a:xfrm>
            <a:off x="457200" y="27752040"/>
            <a:ext cx="21031200" cy="4160520"/>
          </a:xfrm>
          <a:prstGeom prst="roundRect">
            <a:avLst>
              <a:gd name="adj" fmla="val 3516"/>
            </a:avLst>
          </a:prstGeom>
          <a:solidFill>
            <a:srgbClr val="FBF3EC"/>
          </a:solidFill>
          <a:ln w="2540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Shape 49"/>
          <p:cNvSpPr/>
          <p:nvPr/>
        </p:nvSpPr>
        <p:spPr>
          <a:xfrm>
            <a:off x="457200" y="27752040"/>
            <a:ext cx="164592" cy="4160520"/>
          </a:xfrm>
          <a:prstGeom prst="rect">
            <a:avLst/>
          </a:prstGeom>
          <a:solidFill>
            <a:srgbClr val="C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7" name="Text 50"/>
          <p:cNvSpPr/>
          <p:nvPr/>
        </p:nvSpPr>
        <p:spPr>
          <a:xfrm>
            <a:off x="822960" y="27998928"/>
            <a:ext cx="168910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00" b="1" dirty="0">
                <a:solidFill>
                  <a:srgbClr val="3A2E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Collaborator or Assistant? A junior teammate — often under your name.</a:t>
            </a:r>
            <a:endParaRPr lang="en-US" sz="3600" dirty="0"/>
          </a:p>
        </p:txBody>
      </p:sp>
      <p:sp>
        <p:nvSpPr>
          <p:cNvPr id="58" name="Text 51"/>
          <p:cNvSpPr/>
          <p:nvPr/>
        </p:nvSpPr>
        <p:spPr>
          <a:xfrm>
            <a:off x="822960" y="28849320"/>
            <a:ext cx="16891000" cy="2834640"/>
          </a:xfrm>
          <a:prstGeom prst="rect">
            <a:avLst/>
          </a:prstGeom>
          <a:noFill/>
          <a:ln/>
        </p:spPr>
        <p:txBody>
          <a:bodyPr wrap="square" rtlCol="0" anchor="ctr" anchorCtr="0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800" b="1" dirty="0">
                <a:solidFill>
                  <a:srgbClr val="C0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puzzle:  </a:t>
            </a:r>
            <a:r>
              <a:rPr lang="en-US" sz="2800" dirty="0">
                <a:solidFill>
                  <a:srgbClr val="3A2E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work can enter a repository under a human name.</a:t>
            </a:r>
          </a:p>
          <a:p>
            <a:pPr marL="0" indent="0" algn="l">
              <a:lnSpc>
                <a:spcPct val="108000"/>
              </a:lnSpc>
              <a:spcBef>
                <a:spcPts val="1400"/>
              </a:spcBef>
              <a:buNone/>
            </a:pPr>
            <a:r>
              <a:rPr lang="en-US" sz="2800" b="1" dirty="0">
                <a:solidFill>
                  <a:srgbClr val="C0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trace:  </a:t>
            </a:r>
            <a:r>
              <a:rPr lang="en-US" sz="2800" dirty="0">
                <a:solidFill>
                  <a:srgbClr val="3A2E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most merges still look human-governed.</a:t>
            </a:r>
          </a:p>
          <a:p>
            <a:pPr marL="0" indent="0" algn="l">
              <a:lnSpc>
                <a:spcPct val="108000"/>
              </a:lnSpc>
              <a:spcBef>
                <a:spcPts val="1400"/>
              </a:spcBef>
              <a:buNone/>
            </a:pPr>
            <a:r>
              <a:rPr lang="en-US" sz="2800" b="1" dirty="0">
                <a:solidFill>
                  <a:srgbClr val="C0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gap:  </a:t>
            </a:r>
            <a:r>
              <a:rPr lang="en-US" sz="2800" dirty="0">
                <a:solidFill>
                  <a:srgbClr val="3A2E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recorded human-approved review is often absent.</a:t>
            </a:r>
          </a:p>
          <a:p>
            <a:pPr marL="0" indent="0" algn="l">
              <a:lnSpc>
                <a:spcPct val="108000"/>
              </a:lnSpc>
              <a:spcBef>
                <a:spcPts val="1400"/>
              </a:spcBef>
              <a:buNone/>
            </a:pPr>
            <a:r>
              <a:rPr lang="en-US" sz="2800" b="1" dirty="0">
                <a:solidFill>
                  <a:srgbClr val="C0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question:  </a:t>
            </a:r>
            <a:r>
              <a:rPr lang="en-US" sz="2800" dirty="0">
                <a:solidFill>
                  <a:srgbClr val="3A2E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should repositories log if they want to govern agent-generated change?</a:t>
            </a:r>
            <a:endParaRPr lang="en-US" sz="2100" dirty="0">
              <a:solidFill>
                <a:srgbClr val="3A2E27"/>
              </a:solidFill>
              <a:latin typeface="Trebuchet MS" pitchFamily="34" charset="0"/>
              <a:ea typeface="Trebuchet MS" pitchFamily="34" charset="-122"/>
              <a:cs typeface="Trebuchet MS" pitchFamily="34" charset="-120"/>
            </a:endParaRPr>
          </a:p>
        </p:txBody>
      </p:sp>
      <p:sp>
        <p:nvSpPr>
          <p:cNvPr id="59" name="Shape 52"/>
          <p:cNvSpPr/>
          <p:nvPr/>
        </p:nvSpPr>
        <p:spPr>
          <a:xfrm>
            <a:off x="0" y="32014160"/>
            <a:ext cx="21945600" cy="904240"/>
          </a:xfrm>
          <a:prstGeom prst="rect">
            <a:avLst/>
          </a:prstGeom>
          <a:solidFill>
            <a:srgbClr val="3A2E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0" name="Text 53"/>
          <p:cNvSpPr/>
          <p:nvPr/>
        </p:nvSpPr>
        <p:spPr>
          <a:xfrm>
            <a:off x="822960" y="32108648"/>
            <a:ext cx="1627632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E7D9C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Data: AIDev (Li, Zhang &amp; A. E. Hassan, 2025), hao-li/AIDev on Hugging Face, CC-BY-4.0.   Repro: governance_stats.json (n=29,585; merged n=22,672).</a:t>
            </a:r>
            <a:endParaRPr lang="en-US" sz="1500" dirty="0"/>
          </a:p>
        </p:txBody>
      </p:sp>
      <p:sp>
        <p:nvSpPr>
          <p:cNvPr id="61" name="Text 54"/>
          <p:cNvSpPr/>
          <p:nvPr/>
        </p:nvSpPr>
        <p:spPr>
          <a:xfrm>
            <a:off x="822960" y="32415480"/>
            <a:ext cx="16733520" cy="205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E7D9C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Method: lifecycle state-machine taxonomy over PR timelines + AIDev review metadata.   Corroboration: Li et al. 2025; Agarwal et al. 2026; Haider &amp; Zimmermann 2026; Rahman &amp; Shihab 2026.   Supported by NSERC RGPIN-2021-03969.</a:t>
            </a:r>
            <a:endParaRPr lang="en-US" sz="1500" dirty="0"/>
          </a:p>
        </p:txBody>
      </p:sp>
      <p:sp>
        <p:nvSpPr>
          <p:cNvPr id="62" name="Text 55"/>
          <p:cNvSpPr/>
          <p:nvPr/>
        </p:nvSpPr>
        <p:spPr>
          <a:xfrm>
            <a:off x="17556480" y="3250692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1500" dirty="0">
                <a:solidFill>
                  <a:srgbClr val="E7D9C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AIware 2026 · Montreal</a:t>
            </a:r>
            <a:endParaRPr lang="en-US" sz="1500" dirty="0"/>
          </a:p>
        </p:txBody>
      </p:sp>
      <p:sp>
        <p:nvSpPr>
          <p:cNvPr id="2" name="Logo Plate">
            <a:extLst>
              <a:ext uri="{FF2B5EF4-FFF2-40B4-BE49-F238E27FC236}">
                <a16:creationId xmlns:a16="http://schemas.microsoft.com/office/drawing/2014/main" id="{8D5A0090-0B40-4148-88B1-5498BFE5CCC7}"/>
              </a:ext>
            </a:extLst>
          </p:cNvPr>
          <p:cNvSpPr/>
          <p:nvPr/>
        </p:nvSpPr>
        <p:spPr>
          <a:xfrm>
            <a:off x="18542000" y="101600"/>
            <a:ext cx="2781300" cy="1270000"/>
          </a:xfrm>
          <a:prstGeom prst="round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pic>
        <p:nvPicPr>
          <p:cNvPr id="9" name="Image 1" descr="assets/caise_log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745200" y="310896"/>
            <a:ext cx="2377440" cy="868680"/>
          </a:xfrm>
          <a:prstGeom prst="rect">
            <a:avLst/>
          </a:prstGeom>
        </p:spPr>
      </p:pic>
      <p:sp>
        <p:nvSpPr>
          <p:cNvPr id="63" name="Text 12">
            <a:extLst>
              <a:ext uri="{FF2B5EF4-FFF2-40B4-BE49-F238E27FC236}">
                <a16:creationId xmlns:a16="http://schemas.microsoft.com/office/drawing/2014/main" id="{AE0138A2-DC81-ADEC-885E-3A89C41357F1}"/>
              </a:ext>
            </a:extLst>
          </p:cNvPr>
          <p:cNvSpPr/>
          <p:nvPr/>
        </p:nvSpPr>
        <p:spPr>
          <a:xfrm>
            <a:off x="960120" y="6930644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4000" b="1" dirty="0">
                <a:solidFill>
                  <a:srgbClr val="C0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2.</a:t>
            </a:r>
            <a:endParaRPr lang="en-US" sz="4000" dirty="0">
              <a:solidFill>
                <a:srgbClr val="C00000"/>
              </a:solidFill>
            </a:endParaRPr>
          </a:p>
        </p:txBody>
      </p:sp>
      <p:sp>
        <p:nvSpPr>
          <p:cNvPr id="192" name="Text 12">
            <a:extLst>
              <a:ext uri="{FF2B5EF4-FFF2-40B4-BE49-F238E27FC236}">
                <a16:creationId xmlns:a16="http://schemas.microsoft.com/office/drawing/2014/main" id="{1B579724-59D5-841F-1A48-CBD0E8FB48BF}"/>
              </a:ext>
            </a:extLst>
          </p:cNvPr>
          <p:cNvSpPr/>
          <p:nvPr/>
        </p:nvSpPr>
        <p:spPr>
          <a:xfrm>
            <a:off x="960120" y="859536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4000" b="1" dirty="0">
                <a:solidFill>
                  <a:srgbClr val="C0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3.</a:t>
            </a:r>
            <a:endParaRPr lang="en-US" sz="4000" dirty="0">
              <a:solidFill>
                <a:srgbClr val="C00000"/>
              </a:solidFill>
            </a:endParaRPr>
          </a:p>
        </p:txBody>
      </p:sp>
      <p:sp>
        <p:nvSpPr>
          <p:cNvPr id="300" name="Claim Panel"/>
          <p:cNvSpPr/>
          <p:nvPr/>
        </p:nvSpPr>
        <p:spPr>
          <a:xfrm>
            <a:off x="8140700" y="25527000"/>
            <a:ext cx="12992100" cy="2006600"/>
          </a:xfrm>
          <a:prstGeom prst="rect">
            <a:avLst/>
          </a:prstGeom>
          <a:solidFill>
            <a:srgbClr val="F6EEE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01" name="Claim Bar"/>
          <p:cNvSpPr/>
          <p:nvPr/>
        </p:nvSpPr>
        <p:spPr>
          <a:xfrm>
            <a:off x="8140700" y="25527000"/>
            <a:ext cx="152400" cy="20066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02" name="Claim Heading"/>
          <p:cNvSpPr/>
          <p:nvPr/>
        </p:nvSpPr>
        <p:spPr>
          <a:xfrm>
            <a:off x="8534400" y="25654000"/>
            <a:ext cx="12446000" cy="508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b="1" dirty="0">
                <a:solidFill>
                  <a:srgbClr val="C0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poster's claim</a:t>
            </a:r>
          </a:p>
        </p:txBody>
      </p:sp>
      <p:sp>
        <p:nvSpPr>
          <p:cNvPr id="303" name="Claim Body"/>
          <p:cNvSpPr/>
          <p:nvPr/>
        </p:nvSpPr>
        <p:spPr>
          <a:xfrm>
            <a:off x="8534400" y="26212800"/>
            <a:ext cx="12446000" cy="127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200" dirty="0">
                <a:solidFill>
                  <a:srgbClr val="3A2E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lifecycle map still works, but Figure 3 should be read as attribution visibility. Once read that way, the same traces expose a governance gap: human review is sparse overall and lowest where agentic work is least visible as agentic. Association, not cause.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D394F2D-EA43-401D-B612-0238D85C2A73}"/>
              </a:ext>
            </a:extLst>
          </p:cNvPr>
          <p:cNvSpPr/>
          <p:nvPr/>
        </p:nvSpPr>
        <p:spPr>
          <a:xfrm>
            <a:off x="18008600" y="28295600"/>
            <a:ext cx="25400" cy="3098800"/>
          </a:xfrm>
          <a:prstGeom prst="rect">
            <a:avLst/>
          </a:prstGeom>
          <a:solidFill>
            <a:srgbClr val="C0000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85B1E61-B4FF-4015-983D-5A7BF6E2FBC5}"/>
              </a:ext>
            </a:extLst>
          </p:cNvPr>
          <p:cNvSpPr txBox="1"/>
          <p:nvPr/>
        </p:nvSpPr>
        <p:spPr>
          <a:xfrm>
            <a:off x="17678400" y="30937200"/>
            <a:ext cx="3937000" cy="508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ctr"/>
            <a:r>
              <a:rPr lang="en-US" sz="1600" b="1" dirty="0">
                <a:solidFill>
                  <a:srgbClr val="3A2E27"/>
                </a:solidFill>
                <a:latin typeface="Trebuchet MS"/>
              </a:rPr>
              <a:t>Scan for code &amp; data</a:t>
            </a:r>
          </a:p>
        </p:txBody>
      </p:sp>
      <p:pic>
        <p:nvPicPr>
          <p:cNvPr id="23" name="Image 0" descr="assets/paper_pr_workflow.png">
            <a:extLst>
              <a:ext uri="{FF2B5EF4-FFF2-40B4-BE49-F238E27FC236}">
                <a16:creationId xmlns:a16="http://schemas.microsoft.com/office/drawing/2014/main" id="{C8AAA8C6-4D9B-3103-48EE-B28104DCF2F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61120" y="5029200"/>
            <a:ext cx="6794258" cy="5762053"/>
          </a:xfrm>
          <a:prstGeom prst="rect">
            <a:avLst/>
          </a:prstGeom>
        </p:spPr>
      </p:pic>
      <p:sp>
        <p:nvSpPr>
          <p:cNvPr id="54" name="TextBox 53">
            <a:extLst>
              <a:ext uri="{FF2B5EF4-FFF2-40B4-BE49-F238E27FC236}">
                <a16:creationId xmlns:a16="http://schemas.microsoft.com/office/drawing/2014/main" id="{A0CD076B-3E47-CFF1-73D3-2CAF0FEE1D49}"/>
              </a:ext>
            </a:extLst>
          </p:cNvPr>
          <p:cNvSpPr txBox="1"/>
          <p:nvPr/>
        </p:nvSpPr>
        <p:spPr>
          <a:xfrm>
            <a:off x="10021435" y="10514647"/>
            <a:ext cx="5472176" cy="367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i="1" dirty="0">
                <a:solidFill>
                  <a:srgbClr val="70707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paper's PR-lifecycle state machine (the map).</a:t>
            </a:r>
            <a:endParaRPr lang="en-US" sz="1800" dirty="0"/>
          </a:p>
        </p:txBody>
      </p:sp>
      <p:pic>
        <p:nvPicPr>
          <p:cNvPr id="193" name="Picture 192">
            <a:extLst>
              <a:ext uri="{FF2B5EF4-FFF2-40B4-BE49-F238E27FC236}">
                <a16:creationId xmlns:a16="http://schemas.microsoft.com/office/drawing/2014/main" id="{D8A1A651-95E7-4C99-72EF-20828AB9708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440400" y="28422600"/>
            <a:ext cx="2413000" cy="2413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46480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749F425F-225B-4CA9-8D57-9355C1CDC146}">
  <we:reference id="wa200010001" version="1.0.0.1" store="en-US" storeType="OMEX"/>
  <we:alternateReferences>
    <we:reference id="WA200010001" version="1.0.0.1" store="" storeType="OMEX"/>
  </we:alternateReferences>
  <we:properties>
    <we:property name="claude.fileId" value="&quot;6a179f5b-583f-4502-af92-ac3f8f73e43e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134</TotalTime>
  <Words>573</Words>
  <Application>Microsoft Office PowerPoint</Application>
  <PresentationFormat>Custom</PresentationFormat>
  <Paragraphs>50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Trebuchet MS</vt:lpstr>
      <vt:lpstr>Office Theme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Joseph Chung</cp:lastModifiedBy>
  <cp:revision>2</cp:revision>
  <dcterms:created xsi:type="dcterms:W3CDTF">2026-06-22T20:29:10Z</dcterms:created>
  <dcterms:modified xsi:type="dcterms:W3CDTF">2026-06-22T22:47:23Z</dcterms:modified>
</cp:coreProperties>
</file>