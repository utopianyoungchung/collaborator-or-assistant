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63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3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00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Open with the question, not the method. "AI coding agents now open pull requests at scale - Copilot, Devin, Cursor, Claude Code, OpenAI Codex. When an agent's PR merges into the trunk, did a human actually review it? It sounds like a yes/no question, but you cannot answer it from raw metadata. Our paper gives you the tool to answer it - and the answer is surprising." Paper: Collaborator or Assistant? How AI Coding Agents Partition Work Across Pull Request Lifecycles. Chung &amp; Hassan, University of Toronto. AIware 2026, Montreal, 6-7 July.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 - the contribution is an instrument. "Raw pull-request metadata is a pile of events: timestamps, authors, review actions. It tells you WHAT happened, not WHERE governance happens. Our contribution turns those events into a map." 1) Each PR is a lifecycle - characterized as a process, not a single row. 2) Timeline data maps the pathways - state-machine transitions over the event timeline recover the routes a PR can travel: PR created -&gt; Review &lt;-&gt; Revision -&gt; Merged &amp; closed / Unmerged &amp; closed, plus the direct-to-merge shortcut. 3) Three separable observables - visible first-commit attribution, review routing, and merge governance, each measured independently (this independence is the camera-ready's core contribution; tool-scenario association ~ Cramer's V 0.50). Land it: this is an INSTRUMENT - point it at ANY PR metadata and it tells you which path a change took and whether a human gate was crossed. The figure is the actual state machine from the paper (Contribution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- the map generalizes; this is why the reframe is credible. "When the fuller Hugging Face AIDev metadata arrived, we re-ran the same machinery - and every PR fell cleanly into the same pathways. Nothing had to be bent to fit." 1) Construct correction - nearly every PR in AIDev's curated subset is agent-associated BY CONSTRUCTION, so the old Initiator axis measures the VISIBILITY of agent attribution at the first-commit surface, not human authorship. Documented in Li, Zhang &amp; Hassan 2025 (Finding 9): OpenAI Codex provides no commit attribution; Claude Code's Co-Authored-By tag is disableable; Copilot, Devin and Cursor commit as visible bots. The corpus is AGENTS-ONLY - AIDev keeps human PRs in a separate file (6,618 rows) excluded from our sample, so Human/Agent are within-PR roles, not a population split; in the analytic sample, the 72% 'Human-Init' share is 97.8% OpenAI Codex (no machine-visible attribution), while the merge axis is confound-free (99.8% human-resolved across all five tools). 2) The pathways generalize - same state machine, richer data; the Collaborator/Assistant routing profile re-reads through recorded review-and-merge traces (review-mediated vs direct-to-merge) - a descriptive profile, not a proven collaboration mode. 3) Reframe, not retract - the review axis ALONE reproduces the split, so it is not circular. Claude Code is the fragile case: n=338, and 57% of its initiation labels flip under attribution-aware detection - so it is explicitly caveated. Net: a reframe, not a retraction. LOGIC: one dataset, one metadata schema - the difference between the paper's reading and the governance reading is the LENS (which layer you read + how strictly you read the labels), not a different population. The full &gt;100-star-free population (932,791) is a separate axis of SCALE, reserved for future work, not the source of the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TWIST - point the instrument at the merge gate. "The merge is the governing apex of a pull request, so we point the map at it. Across 29,585 agent-associated PRs, 89.6% reach a terminal state with NO human-approved review. Among the 22,672 that merged, only 12.78% carry a recorded human-approved review - even though a human-classified executor RESOLVES 99.8% of merges. The paper's controlling boundary: it captures who executes the merge but not who decides; a missing recorded review is not proof that no verification happened." Bar chart: human-approved-review rate among MERGED PRs by tool - Copilot 66.4%, Devin 44.7%, Cursor 28.1%, Claude Code 19.4%, OpenAI Codex 3.9%. A 17-fold spread in recorded review routing, which differs by tool and by repository adoption (association, not cause). Boundary condition (do not overclaim): thin review is NOT fragile code. Same AIDev lineage - Haider &amp; Zimmermann 2026: inline review on ~9.5% of curated PRs; Rahman &amp; Shihab 2026: agent code modified LESS often (HR 0.842) - but longevity is not robustness, so code quality stays open. A productivity story is really a governance one. Collaborator tools (Cursor, Devin, Copilot) draw more review; Assistant tools (OpenAI Codex, Claude Code) resolve without it. But agency and authority DECOUPLE: &gt;=96% agent-initiated, yet agent-executed merges &lt;0.1% - agents do the work without executing the merge, a 'junior teammate' pattern (a current-state description, not destiny).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- sell reusability, then hand off. "The finding matters, but the lasting contribution is the MAP. Point it at any PR metadata - ours, or live data tomorrow - and it pinpoints where governance happens, or does not." The poster carries, in depth: the full per-tool governance profile behind the 17-fold; the construct correction; the form-vs-substance reading of the merge gate; and a worked future-work prototype for quality/outcome analysis on refreshed/live AIDev metadata. Close: "Come to the poster - the instrument, and what it reveals." Corroboration if asked: Li, Zhang &amp; Hassan 2025 (AIDev / attribution); Haider &amp; Zimmermann 2026, MSR'26 (review themes); Rahman &amp; Shihab 2026, EASE'26 (survival).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nner BG"/>
          <p:cNvSpPr/>
          <p:nvPr/>
        </p:nvSpPr>
        <p:spPr>
          <a:xfrm>
            <a:off x="0" y="0"/>
            <a:ext cx="12192000" cy="3200400"/>
          </a:xfrm>
          <a:prstGeom prst="rect">
            <a:avLst/>
          </a:prstGeom>
          <a:gradFill>
            <a:gsLst>
              <a:gs pos="0">
                <a:srgbClr val="0B2545"/>
              </a:gs>
              <a:gs pos="55000">
                <a:srgbClr val="1F4366"/>
              </a:gs>
              <a:gs pos="100000">
                <a:srgbClr val="3A6B96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Accent Stripe"/>
          <p:cNvSpPr/>
          <p:nvPr/>
        </p:nvSpPr>
        <p:spPr>
          <a:xfrm>
            <a:off x="0" y="3136900"/>
            <a:ext cx="121920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0"/>
          <p:cNvSpPr/>
          <p:nvPr/>
        </p:nvSpPr>
        <p:spPr>
          <a:xfrm>
            <a:off x="548640" y="7112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Collaborator or Assistant?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548640" y="157480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Coding Agents Partition Work Across Pull Request Lifecycles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34747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i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coding agents now open pull requests at scale. When their code merges into the trunk — did anyone actually review it?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66928" y="5166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Young Jo Chung</a:t>
            </a:r>
            <a:r>
              <a:rPr lang="en-US" sz="19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Safwat Hassan        University of Toronto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66928" y="5650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AIware 2026 · 3rd ACM Intl. Conference on AI-powered Software · Montreal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60533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Supported by NSERC (RGPIN-2021-03969).</a:t>
            </a:r>
            <a:endParaRPr lang="en-US" sz="1300" dirty="0"/>
          </a:p>
        </p:txBody>
      </p:sp>
      <p:pic>
        <p:nvPicPr>
          <p:cNvPr id="9" name="Image 1" descr="assets/cai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943600"/>
            <a:ext cx="1463040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9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100" y="27432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contribution: a map of where to look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737360" cy="6400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i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PR metadata says what happened — not who authorized it, or who answers for it. We turn it into a map.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98448" y="247802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PR is a lifecycle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8448" y="302666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process to characterize — not a row in a table.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98448" y="375818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maps the pathways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8448" y="430682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State-machine transitions recover the routes a PR can take.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98448" y="503834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separable observables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98448" y="558698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Attribution · review routing · merge — who initiates vs who executes the merge.</a:t>
            </a:r>
            <a:endParaRPr lang="en-US" sz="1800" dirty="0"/>
          </a:p>
        </p:txBody>
      </p:sp>
      <p:pic>
        <p:nvPicPr>
          <p:cNvPr id="17" name="Image 0" descr="assets/paper_pr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91640"/>
            <a:ext cx="4754880" cy="40325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49440" y="57972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i="1" dirty="0">
                <a:solidFill>
                  <a:srgbClr val="707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paper's PR-lifecycle state machine (the map).</a:t>
            </a:r>
            <a:endParaRPr lang="en-US" sz="1600" dirty="0"/>
          </a:p>
        </p:txBody>
      </p:sp>
      <p:pic>
        <p:nvPicPr>
          <p:cNvPr id="19" name="Image 1" descr="assets/cai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91656"/>
            <a:ext cx="1097280" cy="40233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1475720" y="6336792"/>
            <a:ext cx="402336" cy="402336"/>
          </a:xfrm>
          <a:prstGeom prst="ellipse">
            <a:avLst/>
          </a:prstGeom>
          <a:solidFill>
            <a:srgbClr val="3A2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147572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100" y="27432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data, a different lens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737360" cy="6400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i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new dataset and no new sample — the same PRs and the same metadata. Read the review-and-merge layer (not just initiation) and the same structures tell a governance story.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98448" y="25694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 correction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8448" y="3118104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PR is agent-associated by construction — 'Human-Init' is an attribution appearance (login-or-name), not human authorship.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98448" y="39410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pathways generalize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8448" y="4489704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map, fuller data: the Collaborator / Assistant routing profile re-reads through recorded review-and-merge traces.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98448" y="53126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Reframe, not retract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98448" y="5861304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review axis alone reproduces the split; the small-sample case is caveated.</a:t>
            </a:r>
            <a:endParaRPr lang="en-US" sz="1800" dirty="0"/>
          </a:p>
        </p:txBody>
      </p:sp>
      <p:pic>
        <p:nvPicPr>
          <p:cNvPr id="17" name="Image 0" descr="assets/cai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91656"/>
            <a:ext cx="1097280" cy="40233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475720" y="6336792"/>
            <a:ext cx="402336" cy="402336"/>
          </a:xfrm>
          <a:prstGeom prst="ellipse">
            <a:avLst/>
          </a:prstGeom>
          <a:solidFill>
            <a:srgbClr val="3A2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47572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100" y="27432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twist: recorded human review is the exception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737360" cy="6400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assets/caise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54480"/>
            <a:ext cx="68580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55448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BF7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128016" cy="42976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80960" y="17830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6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89.6%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680960" y="2743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29,585 PRs reach a terminal state with no recorded human-approved review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80960" y="36576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17×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7680960" y="4526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the Collaborator→Assistant spectrum (Copilot 66.4% → Codex 3.9%)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6053328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agent PRs merge with no recorded human-approved review.</a:t>
            </a:r>
            <a:endParaRPr lang="en-US" sz="2200" dirty="0"/>
          </a:p>
        </p:txBody>
      </p:sp>
      <p:pic>
        <p:nvPicPr>
          <p:cNvPr id="12" name="Image 1" descr="assets/cai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91656"/>
            <a:ext cx="1097280" cy="4023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475720" y="6336792"/>
            <a:ext cx="402336" cy="402336"/>
          </a:xfrm>
          <a:prstGeom prst="ellipse">
            <a:avLst/>
          </a:prstGeom>
          <a:solidFill>
            <a:srgbClr val="3A2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147572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7985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nner BG"/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gradFill>
            <a:gsLst>
              <a:gs pos="0">
                <a:srgbClr val="0B2545"/>
              </a:gs>
              <a:gs pos="55000">
                <a:srgbClr val="1F4366"/>
              </a:gs>
              <a:gs pos="100000">
                <a:srgbClr val="3A6B96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Accent Stripe"/>
          <p:cNvSpPr/>
          <p:nvPr/>
        </p:nvSpPr>
        <p:spPr>
          <a:xfrm>
            <a:off x="0" y="1358900"/>
            <a:ext cx="12192000" cy="635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0"/>
          <p:cNvSpPr/>
          <p:nvPr/>
        </p:nvSpPr>
        <p:spPr>
          <a:xfrm>
            <a:off x="548640" y="31089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Collaborator or Assistant? A junior teammate — see the poster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48640" y="164592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i="1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do the operational work (≥96% of Collaborator-tool PRs are agent-initiated) yet humans execute almost every merge (&lt;0.1% agent-executed): operational agency and governance authority decouple.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3218688"/>
            <a:ext cx="219456" cy="21945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52144" y="311810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per-tool governance profile — </a:t>
            </a:r>
            <a:r>
              <a:rPr lang="en-US" sz="20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behind the 17-fold.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931920"/>
            <a:ext cx="219456" cy="21945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52144" y="383133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construct correction — </a:t>
            </a:r>
            <a:r>
              <a:rPr lang="en-US" sz="20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attribution as appearance, not identity.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31520" y="4645152"/>
            <a:ext cx="219456" cy="21945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52144" y="45445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vs governance legibility — </a:t>
            </a:r>
            <a:r>
              <a:rPr lang="en-US" sz="20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recorded merge can and cannot evidence.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31520" y="5358384"/>
            <a:ext cx="219456" cy="21945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52144" y="5257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future-work prototype — </a:t>
            </a:r>
            <a:r>
              <a:rPr lang="en-US" sz="2000" dirty="0">
                <a:solidFill>
                  <a:srgbClr val="3A2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/ outcome analysis on live AIDev data.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6928" y="5892800"/>
            <a:ext cx="6766560" cy="777240"/>
          </a:xfrm>
          <a:prstGeom prst="roundRect">
            <a:avLst>
              <a:gd name="adj" fmla="val 7059"/>
            </a:avLst>
          </a:prstGeom>
          <a:solidFill>
            <a:srgbClr val="FBF7F2"/>
          </a:solidFill>
          <a:ln w="1587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593852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to the poster — the instrument, and what it reveals.</a:t>
            </a:r>
            <a:endParaRPr lang="en-US" sz="1900" dirty="0"/>
          </a:p>
        </p:txBody>
      </p:sp>
      <p:pic>
        <p:nvPicPr>
          <p:cNvPr id="15" name="Image 1" descr="assets/cai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806440"/>
            <a:ext cx="1417320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4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16DE0A-E5F3-4DEA-843E-F652A35B4F7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464aa53-2d15-49d4-838a-3c42ecf838a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1514</Words>
  <Application>Microsoft Office PowerPoint</Application>
  <PresentationFormat>Widescreen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Chung</cp:lastModifiedBy>
  <cp:revision>3</cp:revision>
  <dcterms:created xsi:type="dcterms:W3CDTF">2026-06-22T16:57:30Z</dcterms:created>
  <dcterms:modified xsi:type="dcterms:W3CDTF">2026-06-22T19:16:33Z</dcterms:modified>
</cp:coreProperties>
</file>